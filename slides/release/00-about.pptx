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1" r:id="rId1"/>
  </p:sldMasterIdLst>
  <p:notesMasterIdLst>
    <p:notesMasterId r:id="rId2"/>
  </p:notesMasterIdLst>
  <p:handoutMasterIdLst>
    <p:handoutMasterId r:id="rId3"/>
  </p:handoutMasterIdLst>
  <p:sldIdLst>
    <p:sldId id="256" r:id="rId9"/>
    <p:sldId id="257" r:id="rId10"/>
    <p:sldId id="258" r:id="rId11"/>
    <p:sldId id="259" r:id="rId12"/>
    <p:sldId id="260" r:id="rId13"/>
  </p:sldIdLst>
  <p:sldSz cx="9372600" cy="829786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1pPr>
    <a:lvl2pPr marL="4572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2pPr>
    <a:lvl3pPr marL="9144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3pPr>
    <a:lvl4pPr marL="13716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4pPr>
    <a:lvl5pPr marL="18288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2614" userDrawn="1">
          <p15:clr>
            <a:srgbClr val="A4A3A4"/>
          </p15:clr>
        </p15:guide>
        <p15:guide id="2" pos="29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y Conlee" initials="MC" lastIdx="1" clrIdx="0"/>
  <p:cmAuthor id="2" name="Mark Kerzner" initials="MK" lastIdx="6" clrIdx="1"/>
  <p:cmAuthor id="3" name="Mary Beth Conlee" initials="MBC" lastIdx="7" clrIdx="2"/>
  <p:cmAuthor id="4" name="Michelle" initials="M" lastIdx="5" clrIdx="3"/>
  <p:cmAuthor id="5" name="Tricia Murphy" initials="TM" lastIdx="4" clrIdx="4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1A1A"/>
    <a:srgbClr val="D6B8EB"/>
    <a:srgbClr val="A77EC7"/>
    <a:srgbClr val="B59BC7"/>
    <a:srgbClr val="C7AAD9"/>
    <a:srgbClr val="C89EDF"/>
    <a:srgbClr val="BD83DF"/>
    <a:srgbClr val="CB89DF"/>
    <a:srgbClr val="CA87D1"/>
    <a:srgbClr val="CF86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969" autoAdjust="0"/>
    <p:restoredTop sz="86012" autoAdjust="0"/>
  </p:normalViewPr>
  <p:slideViewPr>
    <p:cSldViewPr>
      <p:cViewPr varScale="1">
        <p:scale>
          <a:sx n="82" d="100"/>
          <a:sy n="82" d="100"/>
        </p:scale>
        <p:origin x="2920" y="176"/>
      </p:cViewPr>
      <p:guideLst>
        <p:guide orient="horz" pos="2614"/>
        <p:guide pos="29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5" d="100"/>
        <a:sy n="85" d="100"/>
      </p:scale>
      <p:origin x="0" y="0"/>
    </p:cViewPr>
  </p:sorterViewPr>
  <p:notesViewPr>
    <p:cSldViewPr>
      <p:cViewPr>
        <p:scale>
          <a:sx n="80" d="100"/>
          <a:sy n="80" d="100"/>
        </p:scale>
        <p:origin x="3296" y="-56"/>
      </p:cViewPr>
      <p:guideLst>
        <p:guide orient="horz" pos="3024"/>
        <p:guide pos="2308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handoutMaster" Target="handoutMasters/handoutMaster1.xml"/><Relationship Id="rId4" Type="http://schemas.openxmlformats.org/officeDocument/2006/relationships/commentAuthors" Target="commentAuthors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3363"/>
            <a:ext cx="3170238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3363"/>
            <a:ext cx="317023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97E62689-8C7D-4291-A094-4E689FEC4C3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2915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68375" y="473075"/>
            <a:ext cx="5365750" cy="47513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8280" name="Rectangle 8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365250" y="9388475"/>
            <a:ext cx="4578350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1" compatLnSpc="1">
            <a:prstTxWarp prst="textNoShape">
              <a:avLst/>
            </a:prstTxWarp>
          </a:bodyPr>
          <a:lstStyle>
            <a:lvl1pPr algn="ctr" defTabSz="965200" eaLnBrk="0" hangingPunct="0">
              <a:defRPr sz="900">
                <a:latin typeface="Arial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438281" name="Rectangle 9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400800" y="9388475"/>
            <a:ext cx="554038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b="1">
                <a:latin typeface="Arial" charset="0"/>
              </a:defRPr>
            </a:lvl1pPr>
          </a:lstStyle>
          <a:p>
            <a:pPr>
              <a:defRPr/>
            </a:pPr>
            <a:fld id="{EFAADD5D-AF76-45EE-AA5F-6DAC73BF167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38306" name="Text Box 34"/>
          <p:cNvSpPr txBox="1">
            <a:spLocks noChangeArrowheads="1"/>
          </p:cNvSpPr>
          <p:nvPr/>
        </p:nvSpPr>
        <p:spPr bwMode="auto">
          <a:xfrm>
            <a:off x="271463" y="5176838"/>
            <a:ext cx="617537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6386" tIns="48194" rIns="96386" bIns="48194"/>
          <a:lstStyle/>
          <a:p>
            <a:pPr defTabSz="960438">
              <a:defRPr/>
            </a:pPr>
            <a:r>
              <a:rPr lang="en-US" sz="1200" b="1" u="sng" dirty="0">
                <a:latin typeface="Times New Roman" pitchFamily="18" charset="0"/>
                <a:cs typeface="Times New Roman" pitchFamily="18" charset="0"/>
              </a:rPr>
              <a:t>Notes:</a:t>
            </a:r>
          </a:p>
        </p:txBody>
      </p:sp>
      <p:sp>
        <p:nvSpPr>
          <p:cNvPr id="438309" name="Rectangle 37"/>
          <p:cNvSpPr>
            <a:spLocks noGrp="1" noChangeArrowheads="1"/>
          </p:cNvSpPr>
          <p:nvPr>
            <p:ph type="body" sz="quarter" idx="3"/>
          </p:nvPr>
        </p:nvSpPr>
        <p:spPr bwMode="gray">
          <a:xfrm>
            <a:off x="322263" y="5462588"/>
            <a:ext cx="6607175" cy="375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37" tIns="45768" rIns="91537" bIns="45768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/>
          </a:p>
        </p:txBody>
      </p:sp>
      <p:sp>
        <p:nvSpPr>
          <p:cNvPr id="438317" name="Line 45"/>
          <p:cNvSpPr>
            <a:spLocks noChangeShapeType="1"/>
          </p:cNvSpPr>
          <p:nvPr/>
        </p:nvSpPr>
        <p:spPr bwMode="auto">
          <a:xfrm>
            <a:off x="322263" y="9324975"/>
            <a:ext cx="6653212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30000"/>
              </a:spcBef>
              <a:defRPr/>
            </a:pPr>
            <a:endParaRPr lang="en-US" dirty="0">
              <a:latin typeface="Garamond" pitchFamily="-11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374403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indent="0" algn="l" rtl="0" eaLnBrk="0" fontAlgn="base" hangingPunct="0">
      <a:spcBef>
        <a:spcPct val="30000"/>
      </a:spcBef>
      <a:spcAft>
        <a:spcPct val="0"/>
      </a:spcAft>
      <a:buSzPct val="65000"/>
      <a:buFont typeface="Wingdings" pitchFamily="2" charset="2"/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 pitchFamily="-110" charset="-128"/>
      </a:defRPr>
    </a:lvl1pPr>
    <a:lvl2pPr marL="282575" indent="0" algn="l" rtl="0" eaLnBrk="0" fontAlgn="base" hangingPunct="0">
      <a:spcBef>
        <a:spcPct val="30000"/>
      </a:spcBef>
      <a:spcAft>
        <a:spcPct val="0"/>
      </a:spcAft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2pPr>
    <a:lvl3pPr marL="744538" indent="-173038" algn="l" rtl="0" eaLnBrk="0" fontAlgn="base" hangingPunct="0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Set the tone: this is a working session, not a lecture about AI. Ask who has "tried it once</a:t>
            </a:r>
            <a:r>
              <a:t> and wasn't impressed" — those are the people this course is for.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Each session is ~60 minutes and ends in a hands-on lab. The labs chain — what you analyze in</a:t>
            </a:r>
            <a:r>
              <a:t> Session 2 becomes the report in Session 3 and the deck in Session 4. Keep your work.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Emphasize the last one. The deliverable that matters most isn't any single document — it's</a:t>
            </a:r>
            <a:r>
              <a:t> the reusable prompts they take back to their desk.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These two rules run through the whole course. Say them now, and call back to them often.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 preferRelativeResize="0">
            <a:picLocks noChangeArrowheads="1"/>
          </p:cNvPicPr>
          <p:nvPr/>
        </p:nvPicPr>
        <p:blipFill rotWithShape="1">
          <a:blip r:embed="rId2"/>
          <a:srcRect t="19473"/>
          <a:stretch/>
        </p:blipFill>
        <p:spPr bwMode="auto">
          <a:xfrm>
            <a:off x="1" y="-1801"/>
            <a:ext cx="2498725" cy="8308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04898" name="Rectangle 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498726" y="4984481"/>
            <a:ext cx="6335713" cy="400685"/>
          </a:xfrm>
        </p:spPr>
        <p:txBody>
          <a:bodyPr>
            <a:spAutoFit/>
          </a:bodyPr>
          <a:lstStyle>
            <a:lvl1pPr marL="0" indent="0" algn="r">
              <a:buFont typeface="Monotype Sorts" pitchFamily="-110" charset="2"/>
              <a:buNone/>
              <a:defRPr sz="20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04900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704850" y="3226947"/>
            <a:ext cx="8121650" cy="1469414"/>
          </a:xfrm>
        </p:spPr>
        <p:txBody>
          <a:bodyPr lIns="91440" anchor="ctr"/>
          <a:lstStyle>
            <a:lvl1pPr algn="ctr" defTabSz="1825625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EF9825-4C23-4085-A4E3-B5565466BD9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62500" y="994975"/>
            <a:ext cx="4375150" cy="33210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762500" y="4500439"/>
            <a:ext cx="4375150" cy="3322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0E4B02-67B9-4228-B08B-2561CEE6B94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CC632-9864-46F1-8EAB-FCD3BB9CEC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950" y="994976"/>
            <a:ext cx="8902700" cy="682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03876" name="Rectangle 4"/>
          <p:cNvSpPr>
            <a:spLocks noGrp="1" noChangeArrowheads="1"/>
          </p:cNvSpPr>
          <p:nvPr>
            <p:ph type="sldNum" sz="quarter" idx="4"/>
          </p:nvPr>
        </p:nvSpPr>
        <p:spPr bwMode="hidden">
          <a:xfrm>
            <a:off x="8777288" y="7961724"/>
            <a:ext cx="546100" cy="272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b="1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fld id="{77EF9825-4C23-4085-A4E3-B5565466BD9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03877" name="Rectangle 5"/>
          <p:cNvSpPr>
            <a:spLocks noGrp="1" noChangeArrowheads="1"/>
          </p:cNvSpPr>
          <p:nvPr>
            <p:ph type="ftr" sz="quarter" idx="3"/>
          </p:nvPr>
        </p:nvSpPr>
        <p:spPr bwMode="hidden">
          <a:xfrm>
            <a:off x="234950" y="8032785"/>
            <a:ext cx="544195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ctr" eaLnBrk="0" hangingPunct="0">
              <a:spcBef>
                <a:spcPct val="0"/>
              </a:spcBef>
              <a:defRPr sz="9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pic>
        <p:nvPicPr>
          <p:cNvPr id="1030" name="Picture 6"/>
          <p:cNvPicPr preferRelativeResize="0">
            <a:picLocks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ltGray">
          <a:xfrm>
            <a:off x="0" y="1"/>
            <a:ext cx="704850" cy="835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1" name="Rectangle 7"/>
          <p:cNvSpPr>
            <a:spLocks noGrp="1" noChangeArrowheads="1"/>
          </p:cNvSpPr>
          <p:nvPr>
            <p:ph type="title"/>
          </p:nvPr>
        </p:nvSpPr>
        <p:spPr bwMode="invGray">
          <a:xfrm>
            <a:off x="704850" y="1"/>
            <a:ext cx="8667750" cy="835549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6" r:id="rId1"/>
    <p:sldLayoutId id="2147483655" r:id="rId2"/>
    <p:sldLayoutId id="2147483654" r:id="rId3"/>
    <p:sldLayoutId id="2147483653" r:id="rId4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9pPr>
    </p:titleStyle>
    <p:bodyStyle>
      <a:lvl1pPr marL="290513" indent="-29051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itchFamily="2" charset="2"/>
        <a:buChar char=""/>
        <a:defRPr sz="2400">
          <a:solidFill>
            <a:srgbClr val="000000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633413" indent="-2286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Char char="–"/>
        <a:defRPr sz="22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2pPr>
      <a:lvl3pPr marL="969963" indent="-22225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3pPr>
      <a:lvl4pPr marL="1258888" indent="-228600" algn="l" rtl="0" eaLnBrk="0" fontAlgn="base" hangingPunct="0">
        <a:spcBef>
          <a:spcPct val="0"/>
        </a:spcBef>
        <a:spcAft>
          <a:spcPct val="0"/>
        </a:spcAft>
        <a:buClr>
          <a:srgbClr val="5F5F5F"/>
        </a:buClr>
        <a:buSzPct val="65000"/>
        <a:buFont typeface="Arial Bold" pitchFamily="34" charset="0"/>
        <a:buChar char="‒"/>
        <a:defRPr lang="en-US" dirty="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4pPr>
      <a:lvl5pPr marL="20558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  <a:cs typeface="ＭＳ Ｐゴシック"/>
        </a:defRPr>
      </a:lvl5pPr>
      <a:lvl6pPr marL="25130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6pPr>
      <a:lvl7pPr marL="29702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7pPr>
      <a:lvl8pPr marL="34274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8pPr>
      <a:lvl9pPr marL="38846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 wrap="square">
            <a:noAutofit/>
          </a:bodyPr>
          <a:lstStyle/>
          <a:p>
            <a:r>
              <a:rPr sz="4200" b="1" i="0">
                <a:latin typeface="Times New Roman"/>
              </a:rPr>
              <a:t>Claude for Business Professionals</a:t>
            </a:r>
            <a:endParaRPr sz="4200" b="1" i="0">
              <a:latin typeface="Times New Roman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This 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Four short sessions. By the end, you can point Claude at your own spreadsheet, your own</a:t>
            </a:r>
            <a:r>
              <a:t> report, and your own deck — and get real work done, safely.</a:t>
            </a:r>
          </a:p>
          <a:p>
            <a:r>
              <a:t> No coding. No math. A browser and a Claude account.</a:t>
            </a:r>
          </a:p>
          <a:p>
            <a:r>
              <a:t> Half of every session is you, working in Claude.</a:t>
            </a:r>
          </a:p>
          <a:p>
            <a:r>
              <a:t> We build one thing across all four: data → findings → report → presentation.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the Four Sessions Fit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Getting productive</a:t>
            </a:r>
            <a:r>
              <a:t> — how to talk to Claude so it actually helps</a:t>
            </a:r>
          </a:p>
          <a:p>
            <a:r>
              <a:rPr b="1"/>
              <a:t> Data analysis</a:t>
            </a:r>
            <a:r>
              <a:t> — ask your spreadsheet questions, in plain English</a:t>
            </a:r>
          </a:p>
          <a:p>
            <a:r>
              <a:rPr b="1"/>
              <a:t> Reporting</a:t>
            </a:r>
            <a:r>
              <a:t> — turn the numbers into writing someone will read</a:t>
            </a:r>
          </a:p>
          <a:p>
            <a:r>
              <a:rPr b="1"/>
              <a:t> Presentations</a:t>
            </a:r>
            <a:r>
              <a:t> — turn the report into a deck, and make the skill stick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You'll Walk Out With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An analysis of a real business dataset — with the error in it caught</a:t>
            </a:r>
          </a:p>
          <a:p>
            <a:r>
              <a:t> A polished one-page report, retargeted for two different readers</a:t>
            </a:r>
          </a:p>
          <a:p>
            <a:r>
              <a:t> A draft presentation with speaker notes</a:t>
            </a:r>
          </a:p>
          <a:p>
            <a:r>
              <a:t> A</a:t>
            </a:r>
            <a:r>
              <a:rPr b="1"/>
              <a:t> personal prompt library</a:t>
            </a:r>
            <a:r>
              <a:t> — the prompts that did the work, ready to reuse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 Ground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1. Everything we touch in class is fictional.</a:t>
            </a:r>
            <a:r>
              <a:t> Nothing from your own organization until</a:t>
            </a:r>
            <a:r>
              <a:t> you're back at your desk and following your own policy. Session 1 covers exactly why.</a:t>
            </a:r>
          </a:p>
          <a:p>
            <a:r>
              <a:rPr b="1"/>
              <a:t> 2. The words can be Claude's. The claims have to be yours.</a:t>
            </a:r>
            <a:r>
              <a:t> You verify; you don't trust.</a:t>
            </a:r>
            <a:r>
              <a:t> We'll practice that every session.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Pc_New">
  <a:themeElements>
    <a:clrScheme name="LPc_New 7">
      <a:dk1>
        <a:srgbClr val="000000"/>
      </a:dk1>
      <a:lt1>
        <a:srgbClr val="FFFFFF"/>
      </a:lt1>
      <a:dk2>
        <a:srgbClr val="CCECFF"/>
      </a:dk2>
      <a:lt2>
        <a:srgbClr val="003399"/>
      </a:lt2>
      <a:accent1>
        <a:srgbClr val="0794FF"/>
      </a:accent1>
      <a:accent2>
        <a:srgbClr val="800080"/>
      </a:accent2>
      <a:accent3>
        <a:srgbClr val="E2F4FF"/>
      </a:accent3>
      <a:accent4>
        <a:srgbClr val="DADADA"/>
      </a:accent4>
      <a:accent5>
        <a:srgbClr val="AAC8FF"/>
      </a:accent5>
      <a:accent6>
        <a:srgbClr val="730073"/>
      </a:accent6>
      <a:hlink>
        <a:srgbClr val="FF0000"/>
      </a:hlink>
      <a:folHlink>
        <a:srgbClr val="FFFFD2"/>
      </a:folHlink>
    </a:clrScheme>
    <a:fontScheme name="LPc_New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lnDef>
  </a:objectDefaults>
  <a:extraClrSchemeLst>
    <a:extraClrScheme>
      <a:clrScheme name="LPc_New 1">
        <a:dk1>
          <a:srgbClr val="000099"/>
        </a:dk1>
        <a:lt1>
          <a:srgbClr val="FFFFFF"/>
        </a:lt1>
        <a:dk2>
          <a:srgbClr val="0000FF"/>
        </a:dk2>
        <a:lt2>
          <a:srgbClr val="FFFF00"/>
        </a:lt2>
        <a:accent1>
          <a:srgbClr val="FF6633"/>
        </a:accent1>
        <a:accent2>
          <a:srgbClr val="FF00FF"/>
        </a:accent2>
        <a:accent3>
          <a:srgbClr val="AAAAFF"/>
        </a:accent3>
        <a:accent4>
          <a:srgbClr val="DADADA"/>
        </a:accent4>
        <a:accent5>
          <a:srgbClr val="FFB8AD"/>
        </a:accent5>
        <a:accent6>
          <a:srgbClr val="E700E7"/>
        </a:accent6>
        <a:hlink>
          <a:srgbClr val="FF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2">
        <a:dk1>
          <a:srgbClr val="000066"/>
        </a:dk1>
        <a:lt1>
          <a:srgbClr val="CCECFF"/>
        </a:lt1>
        <a:dk2>
          <a:srgbClr val="000080"/>
        </a:dk2>
        <a:lt2>
          <a:srgbClr val="00000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000056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4">
        <a:dk1>
          <a:srgbClr val="000000"/>
        </a:dk1>
        <a:lt1>
          <a:srgbClr val="FFFFFF"/>
        </a:lt1>
        <a:dk2>
          <a:srgbClr val="660033"/>
        </a:dk2>
        <a:lt2>
          <a:srgbClr val="FFFF66"/>
        </a:lt2>
        <a:accent1>
          <a:srgbClr val="FF0033"/>
        </a:accent1>
        <a:accent2>
          <a:srgbClr val="CC6600"/>
        </a:accent2>
        <a:accent3>
          <a:srgbClr val="B8AAAD"/>
        </a:accent3>
        <a:accent4>
          <a:srgbClr val="DADADA"/>
        </a:accent4>
        <a:accent5>
          <a:srgbClr val="FFAAAD"/>
        </a:accent5>
        <a:accent6>
          <a:srgbClr val="B95C00"/>
        </a:accent6>
        <a:hlink>
          <a:srgbClr val="999933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5">
        <a:dk1>
          <a:srgbClr val="000000"/>
        </a:dk1>
        <a:lt1>
          <a:srgbClr val="FFFFFF"/>
        </a:lt1>
        <a:dk2>
          <a:srgbClr val="CCECFF"/>
        </a:dk2>
        <a:lt2>
          <a:srgbClr val="00008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6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9999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7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0794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AAC8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378292</TotalTime>
  <Words>0</Words>
  <Application>Microsoft Macintosh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9" baseType="lpstr">
      <vt:lpstr>ＭＳ Ｐゴシック</vt:lpstr>
      <vt:lpstr>Arial</vt:lpstr>
      <vt:lpstr>Arial Bold</vt:lpstr>
      <vt:lpstr>Garamond</vt:lpstr>
      <vt:lpstr>Monotype Sorts</vt:lpstr>
      <vt:lpstr>Times New Roman</vt:lpstr>
      <vt:lpstr>Verdana</vt:lpstr>
      <vt:lpstr>Wingdings</vt:lpstr>
      <vt:lpstr>LPc_New</vt:lpstr>
    </vt:vector>
  </TitlesOfParts>
  <Company>Elephant Scale LLC &amp; LearningPatterns Inc.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</dc:title>
  <dc:subject>Spark</dc:subject>
  <dc:creator>Elephant Scale</dc:creator>
  <cp:lastModifiedBy>fateme</cp:lastModifiedBy>
  <cp:revision>4135</cp:revision>
  <cp:lastPrinted>2010-01-03T02:41:41Z</cp:lastPrinted>
  <dcterms:created xsi:type="dcterms:W3CDTF">2010-07-13T15:22:01Z</dcterms:created>
  <dcterms:modified xsi:type="dcterms:W3CDTF">2019-10-02T11:26:38Z</dcterms:modified>
</cp:coreProperties>
</file>